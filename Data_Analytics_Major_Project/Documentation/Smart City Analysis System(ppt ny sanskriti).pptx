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70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71" r:id="rId14"/>
    <p:sldId id="267" r:id="rId15"/>
  </p:sldIdLst>
  <p:sldSz cx="12192000" cy="6858000"/>
  <p:notesSz cx="6858000" cy="9144000"/>
  <p:embeddedFontLst>
    <p:embeddedFont>
      <p:font typeface="Plus Jakarta Sans"/>
      <p:bold r:id="rId16"/>
    </p:embeddedFont>
    <p:embeddedFont>
      <p:font typeface="Space Grotesk"/>
      <p:bold r:id="rId1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jpe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hyperlink" Target="https://stackoverflow.com/" TargetMode="External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learn.microsoft.com/excel" TargetMode="External"/><Relationship Id="rId5" Type="http://schemas.openxmlformats.org/officeDocument/2006/relationships/hyperlink" Target="https://support.microsoft.com/pivottable" TargetMode="External"/><Relationship Id="rId4" Type="http://schemas.openxmlformats.org/officeDocument/2006/relationships/hyperlink" Target="https://support.microsoft.com/exce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ounded Rectangle 5">
            <a:extLst>
              <a:ext uri="{FF2B5EF4-FFF2-40B4-BE49-F238E27FC236}">
                <a16:creationId xmlns:a16="http://schemas.microsoft.com/office/drawing/2014/main" id="{761F0727-B199-9D8D-DA3E-227D75FFB9B2}"/>
              </a:ext>
            </a:extLst>
          </p:cNvPr>
          <p:cNvSpPr/>
          <p:nvPr/>
        </p:nvSpPr>
        <p:spPr>
          <a:xfrm>
            <a:off x="9077184" y="4597172"/>
            <a:ext cx="1974335" cy="1085498"/>
          </a:xfrm>
          <a:prstGeom prst="roundRect">
            <a:avLst>
              <a:gd name="adj" fmla="val 11267"/>
            </a:avLst>
          </a:prstGeom>
          <a:solidFill>
            <a:srgbClr val="1C263E"/>
          </a:solidFill>
          <a:ln w="9525">
            <a:solidFill>
              <a:srgbClr val="2B34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6" name="Rounded Rectangle 5">
            <a:extLst>
              <a:ext uri="{FF2B5EF4-FFF2-40B4-BE49-F238E27FC236}">
                <a16:creationId xmlns:a16="http://schemas.microsoft.com/office/drawing/2014/main" id="{232C3EFD-DAA4-CF02-C338-90E8A548EAB5}"/>
              </a:ext>
            </a:extLst>
          </p:cNvPr>
          <p:cNvSpPr/>
          <p:nvPr/>
        </p:nvSpPr>
        <p:spPr>
          <a:xfrm>
            <a:off x="5397432" y="4694917"/>
            <a:ext cx="1447800" cy="676275"/>
          </a:xfrm>
          <a:prstGeom prst="roundRect">
            <a:avLst>
              <a:gd name="adj" fmla="val 11267"/>
            </a:avLst>
          </a:prstGeom>
          <a:solidFill>
            <a:srgbClr val="1C263E"/>
          </a:solidFill>
          <a:ln w="9525">
            <a:solidFill>
              <a:srgbClr val="2B34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5" name="Rounded Rectangle 5">
            <a:extLst>
              <a:ext uri="{FF2B5EF4-FFF2-40B4-BE49-F238E27FC236}">
                <a16:creationId xmlns:a16="http://schemas.microsoft.com/office/drawing/2014/main" id="{E8FF7AAF-A9B0-44F8-70C6-42A78AA9F739}"/>
              </a:ext>
            </a:extLst>
          </p:cNvPr>
          <p:cNvSpPr/>
          <p:nvPr/>
        </p:nvSpPr>
        <p:spPr>
          <a:xfrm>
            <a:off x="5227891" y="3192563"/>
            <a:ext cx="1664851" cy="474765"/>
          </a:xfrm>
          <a:prstGeom prst="roundRect">
            <a:avLst>
              <a:gd name="adj" fmla="val 11267"/>
            </a:avLst>
          </a:prstGeom>
          <a:solidFill>
            <a:srgbClr val="1C263E"/>
          </a:solidFill>
          <a:ln w="9525">
            <a:solidFill>
              <a:srgbClr val="2B34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2" name="Rounded Rectangle 5">
            <a:extLst>
              <a:ext uri="{FF2B5EF4-FFF2-40B4-BE49-F238E27FC236}">
                <a16:creationId xmlns:a16="http://schemas.microsoft.com/office/drawing/2014/main" id="{743B4307-086C-D8C7-3094-1AEB9DC10938}"/>
              </a:ext>
            </a:extLst>
          </p:cNvPr>
          <p:cNvSpPr/>
          <p:nvPr/>
        </p:nvSpPr>
        <p:spPr>
          <a:xfrm>
            <a:off x="3329772" y="144372"/>
            <a:ext cx="5540486" cy="676275"/>
          </a:xfrm>
          <a:prstGeom prst="roundRect">
            <a:avLst>
              <a:gd name="adj" fmla="val 11267"/>
            </a:avLst>
          </a:prstGeom>
          <a:solidFill>
            <a:srgbClr val="1C263E"/>
          </a:solidFill>
          <a:ln w="9525">
            <a:solidFill>
              <a:srgbClr val="2B34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1560909" y="3810482"/>
            <a:ext cx="1902618" cy="2716778"/>
          </a:xfrm>
          <a:prstGeom prst="roundRect">
            <a:avLst>
              <a:gd name="adj" fmla="val 11267"/>
            </a:avLst>
          </a:prstGeom>
          <a:solidFill>
            <a:srgbClr val="1C263E"/>
          </a:solidFill>
          <a:ln w="9525">
            <a:solidFill>
              <a:srgbClr val="2B34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5397432" y="3851954"/>
            <a:ext cx="1447800" cy="676275"/>
          </a:xfrm>
          <a:prstGeom prst="roundRect">
            <a:avLst>
              <a:gd name="adj" fmla="val 11267"/>
            </a:avLst>
          </a:prstGeom>
          <a:solidFill>
            <a:srgbClr val="1C263E"/>
          </a:solidFill>
          <a:ln w="9525">
            <a:solidFill>
              <a:srgbClr val="2B34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1760934" y="3934307"/>
            <a:ext cx="706925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chemeClr val="tx2">
                    <a:lumMod val="60000"/>
                    <a:lumOff val="40000"/>
                  </a:schemeClr>
                </a:solidFill>
                <a:latin typeface="Plus Jakarta Sans"/>
              </a:rPr>
              <a:t>Team Leader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60934" y="4105757"/>
            <a:ext cx="170259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F8FAFC"/>
                </a:solidFill>
                <a:latin typeface="Plus Jakarta Sans"/>
              </a:rPr>
              <a:t>Sanskriti Saxena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75279" y="4010165"/>
            <a:ext cx="13335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Team Members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7000" y="4190092"/>
            <a:ext cx="88166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38BDF8"/>
                </a:solidFill>
                <a:latin typeface="Plus Jakarta Sans"/>
              </a:rPr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A2389D9-3851-38B3-2480-A24EDBD0ECF3}"/>
              </a:ext>
            </a:extLst>
          </p:cNvPr>
          <p:cNvSpPr txBox="1"/>
          <p:nvPr/>
        </p:nvSpPr>
        <p:spPr>
          <a:xfrm>
            <a:off x="1701402" y="4588939"/>
            <a:ext cx="176212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50" b="1" dirty="0">
                <a:solidFill>
                  <a:schemeClr val="bg1"/>
                </a:solidFill>
                <a:latin typeface="Plus Jakarta Sans"/>
              </a:rPr>
              <a:t>Niharika Negi.</a:t>
            </a:r>
          </a:p>
          <a:p>
            <a:r>
              <a:rPr lang="en-US" sz="1350" b="1" dirty="0">
                <a:solidFill>
                  <a:schemeClr val="bg1"/>
                </a:solidFill>
                <a:latin typeface="Plus Jakarta Sans"/>
              </a:rPr>
              <a:t>Anmol Mishra.  </a:t>
            </a:r>
            <a:endParaRPr lang="en-IN" sz="1350" b="1" dirty="0">
              <a:solidFill>
                <a:schemeClr val="bg1"/>
              </a:solidFill>
              <a:latin typeface="Plus Jakarta Sans"/>
            </a:endParaRPr>
          </a:p>
          <a:p>
            <a:r>
              <a:rPr lang="en-US" sz="1350" b="1" dirty="0">
                <a:solidFill>
                  <a:schemeClr val="bg1"/>
                </a:solidFill>
                <a:latin typeface="Plus Jakarta Sans"/>
              </a:rPr>
              <a:t>Priyanshi Dubey.</a:t>
            </a:r>
          </a:p>
          <a:p>
            <a:r>
              <a:rPr lang="en-US" sz="1350" b="1" dirty="0">
                <a:solidFill>
                  <a:schemeClr val="bg1"/>
                </a:solidFill>
                <a:latin typeface="Plus Jakarta Sans"/>
              </a:rPr>
              <a:t>Vaishnavi Varshney.</a:t>
            </a:r>
          </a:p>
          <a:p>
            <a:r>
              <a:rPr lang="en-US" sz="1350" b="1" dirty="0">
                <a:solidFill>
                  <a:schemeClr val="bg1"/>
                </a:solidFill>
                <a:latin typeface="Plus Jakarta Sans"/>
              </a:rPr>
              <a:t>Ansh Kulshrestha.</a:t>
            </a:r>
          </a:p>
          <a:p>
            <a:r>
              <a:rPr lang="en-US" sz="1350" b="1" dirty="0">
                <a:solidFill>
                  <a:schemeClr val="bg1"/>
                </a:solidFill>
                <a:latin typeface="Plus Jakarta Sans"/>
              </a:rPr>
              <a:t>Adama Ousman.</a:t>
            </a:r>
          </a:p>
          <a:p>
            <a:r>
              <a:rPr lang="en-US" sz="1350" b="1" dirty="0">
                <a:solidFill>
                  <a:schemeClr val="bg1"/>
                </a:solidFill>
                <a:latin typeface="Plus Jakarta Sans"/>
              </a:rPr>
              <a:t>Satyam.</a:t>
            </a:r>
            <a:endParaRPr lang="en-IN" sz="1350" b="1" dirty="0">
              <a:solidFill>
                <a:schemeClr val="bg1"/>
              </a:solidFill>
              <a:latin typeface="Plus Jakarta Sans"/>
            </a:endParaRPr>
          </a:p>
          <a:p>
            <a:r>
              <a:rPr lang="en-US" sz="1350" b="1" dirty="0">
                <a:solidFill>
                  <a:schemeClr val="bg1"/>
                </a:solidFill>
                <a:latin typeface="Plus Jakarta Sans"/>
              </a:rPr>
              <a:t>Alankar Maurya. </a:t>
            </a:r>
            <a:endParaRPr lang="en-IN" sz="1350" b="1" dirty="0">
              <a:solidFill>
                <a:schemeClr val="bg1"/>
              </a:solidFill>
              <a:latin typeface="Plus Jakarta San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2DE5ADE-D376-B377-EE30-D44AD2B48AFE}"/>
              </a:ext>
            </a:extLst>
          </p:cNvPr>
          <p:cNvSpPr txBox="1"/>
          <p:nvPr/>
        </p:nvSpPr>
        <p:spPr>
          <a:xfrm>
            <a:off x="3329772" y="67010"/>
            <a:ext cx="553245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dirty="0">
                <a:solidFill>
                  <a:schemeClr val="bg1"/>
                </a:solidFill>
              </a:rPr>
              <a:t>INVERTIS UNIVERSITY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6E5E86A-0322-8589-3F3B-E36DB9225CBA}"/>
              </a:ext>
            </a:extLst>
          </p:cNvPr>
          <p:cNvSpPr txBox="1"/>
          <p:nvPr/>
        </p:nvSpPr>
        <p:spPr>
          <a:xfrm>
            <a:off x="5484221" y="4779138"/>
            <a:ext cx="1247319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350" b="1" dirty="0">
                <a:solidFill>
                  <a:schemeClr val="bg1"/>
                </a:solidFill>
                <a:latin typeface="Plus Jakarta Sans"/>
              </a:rPr>
              <a:t>MCA (AI &amp;ML)</a:t>
            </a:r>
          </a:p>
          <a:p>
            <a:pPr algn="ctr"/>
            <a:r>
              <a:rPr lang="en-IN" sz="1350" b="1" dirty="0">
                <a:solidFill>
                  <a:schemeClr val="bg1"/>
                </a:solidFill>
                <a:latin typeface="Plus Jakarta Sans"/>
              </a:rPr>
              <a:t>2026-27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69EB03D-9317-639F-4FBB-184C383A0E9F}"/>
              </a:ext>
            </a:extLst>
          </p:cNvPr>
          <p:cNvSpPr txBox="1"/>
          <p:nvPr/>
        </p:nvSpPr>
        <p:spPr>
          <a:xfrm>
            <a:off x="9183288" y="4989554"/>
            <a:ext cx="176212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  <a:latin typeface="Plus Jakarta Sans"/>
              </a:rPr>
              <a:t>Mr. Divyank Chauhan Assistant Professor</a:t>
            </a:r>
            <a:endParaRPr lang="en-IN" sz="1350" dirty="0">
              <a:solidFill>
                <a:schemeClr val="bg1"/>
              </a:solidFill>
              <a:latin typeface="Plus Jakarta Sans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DFD95434-0465-553A-D971-99F1284EF6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4893" y="888949"/>
            <a:ext cx="2222214" cy="2222214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53155337-3D95-C05B-D8BB-DFBBBC87A182}"/>
              </a:ext>
            </a:extLst>
          </p:cNvPr>
          <p:cNvSpPr txBox="1"/>
          <p:nvPr/>
        </p:nvSpPr>
        <p:spPr>
          <a:xfrm>
            <a:off x="5336290" y="3313267"/>
            <a:ext cx="1556452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IN" sz="1350" b="1" dirty="0" err="1">
                <a:solidFill>
                  <a:schemeClr val="bg1"/>
                </a:solidFill>
                <a:latin typeface="Plus Jakarta Sans"/>
              </a:rPr>
              <a:t>IIOT</a:t>
            </a:r>
            <a:r>
              <a:rPr lang="en-IN" sz="1350" b="1" dirty="0">
                <a:solidFill>
                  <a:schemeClr val="bg1"/>
                </a:solidFill>
                <a:latin typeface="Plus Jakarta Sans"/>
              </a:rPr>
              <a:t> MAJOR PROJECT </a:t>
            </a:r>
          </a:p>
          <a:p>
            <a:pPr algn="l"/>
            <a:r>
              <a:rPr lang="en-IN" sz="1350" b="1" i="0" u="none" dirty="0">
                <a:solidFill>
                  <a:srgbClr val="F8FAFC"/>
                </a:solidFill>
                <a:latin typeface="Plus Jakarta Sans"/>
              </a:rPr>
              <a:t> </a:t>
            </a:r>
            <a:endParaRPr sz="1350" b="1" i="0" u="none" dirty="0">
              <a:solidFill>
                <a:srgbClr val="F8FAFC"/>
              </a:solidFill>
              <a:latin typeface="Plus Jakarta Sans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C5C4125-4358-32A7-E31C-E0E0DF14F05F}"/>
              </a:ext>
            </a:extLst>
          </p:cNvPr>
          <p:cNvSpPr txBox="1"/>
          <p:nvPr/>
        </p:nvSpPr>
        <p:spPr>
          <a:xfrm>
            <a:off x="1760934" y="4373554"/>
            <a:ext cx="1211870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1050" b="0" i="0" u="none" dirty="0">
                <a:solidFill>
                  <a:schemeClr val="tx2">
                    <a:lumMod val="60000"/>
                    <a:lumOff val="40000"/>
                  </a:schemeClr>
                </a:solidFill>
                <a:latin typeface="Plus Jakarta Sans"/>
              </a:rPr>
              <a:t>Other </a:t>
            </a:r>
            <a:r>
              <a:rPr sz="1050" b="0" i="0" u="none" dirty="0">
                <a:solidFill>
                  <a:schemeClr val="tx2">
                    <a:lumMod val="60000"/>
                    <a:lumOff val="40000"/>
                  </a:schemeClr>
                </a:solidFill>
                <a:latin typeface="Plus Jakarta Sans"/>
              </a:rPr>
              <a:t>Team </a:t>
            </a:r>
            <a:r>
              <a:rPr lang="en-IN" sz="1050" b="0" i="0" u="none" dirty="0">
                <a:solidFill>
                  <a:schemeClr val="tx2">
                    <a:lumMod val="60000"/>
                    <a:lumOff val="40000"/>
                  </a:schemeClr>
                </a:solidFill>
                <a:latin typeface="Plus Jakarta Sans"/>
              </a:rPr>
              <a:t>Members</a:t>
            </a:r>
            <a:endParaRPr sz="1050" b="0" i="0" u="none" dirty="0">
              <a:solidFill>
                <a:schemeClr val="tx2">
                  <a:lumMod val="60000"/>
                  <a:lumOff val="40000"/>
                </a:schemeClr>
              </a:solidFill>
              <a:latin typeface="Plus Jakarta Sans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76B428D-1189-BB06-0D4E-0061A7797769}"/>
              </a:ext>
            </a:extLst>
          </p:cNvPr>
          <p:cNvSpPr txBox="1"/>
          <p:nvPr/>
        </p:nvSpPr>
        <p:spPr>
          <a:xfrm>
            <a:off x="9289394" y="4742633"/>
            <a:ext cx="742191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1050" b="0" i="0" u="none" dirty="0">
                <a:solidFill>
                  <a:schemeClr val="tx2">
                    <a:lumMod val="60000"/>
                    <a:lumOff val="40000"/>
                  </a:schemeClr>
                </a:solidFill>
                <a:latin typeface="Plus Jakarta Sans"/>
              </a:rPr>
              <a:t>Project Guide</a:t>
            </a:r>
            <a:endParaRPr sz="1050" b="0" i="0" u="none" dirty="0">
              <a:solidFill>
                <a:schemeClr val="tx2">
                  <a:lumMod val="60000"/>
                  <a:lumOff val="40000"/>
                </a:schemeClr>
              </a:solidFill>
              <a:latin typeface="Plus Jakarta Sa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0">
        <p:split orient="vert"/>
      </p:transition>
    </mc:Choice>
    <mc:Fallback xmlns="">
      <p:transition spd="slow" advTm="20000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3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DF1E56-4FB8-6954-0E73-5C5546F69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5E438D61-8520-FD12-6BB2-452A5DFAC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283EAC3-CE85-E6F8-B0FC-19740A1FD720}"/>
              </a:ext>
            </a:extLst>
          </p:cNvPr>
          <p:cNvSpPr/>
          <p:nvPr/>
        </p:nvSpPr>
        <p:spPr>
          <a:xfrm>
            <a:off x="609600" y="5876925"/>
            <a:ext cx="10972800" cy="3714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F474CA-76F8-4BFF-9706-A1C207590E25}"/>
              </a:ext>
            </a:extLst>
          </p:cNvPr>
          <p:cNvSpPr/>
          <p:nvPr/>
        </p:nvSpPr>
        <p:spPr>
          <a:xfrm>
            <a:off x="609600" y="5876925"/>
            <a:ext cx="109728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>
            <a:extLst>
              <a:ext uri="{FF2B5EF4-FFF2-40B4-BE49-F238E27FC236}">
                <a16:creationId xmlns:a16="http://schemas.microsoft.com/office/drawing/2014/main" id="{6F562EAA-48AA-8721-EBB5-9BB4D0DD13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00" y="6105525"/>
            <a:ext cx="114300" cy="133350"/>
          </a:xfrm>
          <a:prstGeom prst="rect">
            <a:avLst/>
          </a:prstGeom>
        </p:spPr>
      </p:pic>
      <p:pic>
        <p:nvPicPr>
          <p:cNvPr id="11" name="Picture 10" descr="image.png">
            <a:extLst>
              <a:ext uri="{FF2B5EF4-FFF2-40B4-BE49-F238E27FC236}">
                <a16:creationId xmlns:a16="http://schemas.microsoft.com/office/drawing/2014/main" id="{324C0A01-2833-D006-4BF4-05976AB06E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3650" y="6105525"/>
            <a:ext cx="152400" cy="133350"/>
          </a:xfrm>
          <a:prstGeom prst="rect">
            <a:avLst/>
          </a:prstGeom>
        </p:spPr>
      </p:pic>
      <p:pic>
        <p:nvPicPr>
          <p:cNvPr id="12" name="Picture 11" descr="image.png">
            <a:extLst>
              <a:ext uri="{FF2B5EF4-FFF2-40B4-BE49-F238E27FC236}">
                <a16:creationId xmlns:a16="http://schemas.microsoft.com/office/drawing/2014/main" id="{3C9125B8-CE63-C734-1BBA-F63E0EA10D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9950" y="6105525"/>
            <a:ext cx="114300" cy="133350"/>
          </a:xfrm>
          <a:prstGeom prst="rect">
            <a:avLst/>
          </a:prstGeom>
        </p:spPr>
      </p:pic>
      <p:pic>
        <p:nvPicPr>
          <p:cNvPr id="13" name="Picture 12" descr="image.png">
            <a:extLst>
              <a:ext uri="{FF2B5EF4-FFF2-40B4-BE49-F238E27FC236}">
                <a16:creationId xmlns:a16="http://schemas.microsoft.com/office/drawing/2014/main" id="{2D5D5CC0-FD0A-F878-7087-D8C04F6858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38625" y="6105525"/>
            <a:ext cx="133350" cy="133350"/>
          </a:xfrm>
          <a:prstGeom prst="rect">
            <a:avLst/>
          </a:prstGeom>
        </p:spPr>
      </p:pic>
      <p:pic>
        <p:nvPicPr>
          <p:cNvPr id="14" name="Picture 13" descr="image.png">
            <a:extLst>
              <a:ext uri="{FF2B5EF4-FFF2-40B4-BE49-F238E27FC236}">
                <a16:creationId xmlns:a16="http://schemas.microsoft.com/office/drawing/2014/main" id="{F1B89892-BE58-E187-0FAB-A48602F99C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91125" y="6105525"/>
            <a:ext cx="104775" cy="13335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4CB3999-58EA-AB5A-EA33-A855E84ABBAD}"/>
              </a:ext>
            </a:extLst>
          </p:cNvPr>
          <p:cNvSpPr txBox="1"/>
          <p:nvPr/>
        </p:nvSpPr>
        <p:spPr>
          <a:xfrm>
            <a:off x="609600" y="6076950"/>
            <a:ext cx="11620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CORE STACK: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DF16EBB-1100-3D7A-8680-26E776A39082}"/>
              </a:ext>
            </a:extLst>
          </p:cNvPr>
          <p:cNvSpPr txBox="1"/>
          <p:nvPr/>
        </p:nvSpPr>
        <p:spPr>
          <a:xfrm>
            <a:off x="1714500" y="6076950"/>
            <a:ext cx="876300" cy="171450"/>
          </a:xfrm>
          <a:prstGeom prst="rect">
            <a:avLst/>
          </a:prstGeom>
          <a:noFill/>
        </p:spPr>
        <p:txBody>
          <a:bodyPr wrap="none" lIns="11430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Plus Jakarta Sans"/>
              </a:rPr>
              <a:t> Python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E37CE4D-EE35-AEF2-2D77-1055D2D82C53}"/>
              </a:ext>
            </a:extLst>
          </p:cNvPr>
          <p:cNvSpPr txBox="1"/>
          <p:nvPr/>
        </p:nvSpPr>
        <p:spPr>
          <a:xfrm>
            <a:off x="2533650" y="6076950"/>
            <a:ext cx="933450" cy="171450"/>
          </a:xfrm>
          <a:prstGeom prst="rect">
            <a:avLst/>
          </a:prstGeom>
          <a:noFill/>
        </p:spPr>
        <p:txBody>
          <a:bodyPr wrap="none" lIns="15240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Plus Jakarta Sans"/>
              </a:rPr>
              <a:t>Jupyter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D9BB9A7-E43F-A58C-21A0-2B912EADEE74}"/>
              </a:ext>
            </a:extLst>
          </p:cNvPr>
          <p:cNvSpPr txBox="1"/>
          <p:nvPr/>
        </p:nvSpPr>
        <p:spPr>
          <a:xfrm>
            <a:off x="3409950" y="6076950"/>
            <a:ext cx="885825" cy="171450"/>
          </a:xfrm>
          <a:prstGeom prst="rect">
            <a:avLst/>
          </a:prstGeom>
          <a:noFill/>
        </p:spPr>
        <p:txBody>
          <a:bodyPr wrap="none" lIns="11430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Plus Jakarta Sans"/>
              </a:rPr>
              <a:t>MySQL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1128186-64A8-7365-082C-312DDB6EB511}"/>
              </a:ext>
            </a:extLst>
          </p:cNvPr>
          <p:cNvSpPr txBox="1"/>
          <p:nvPr/>
        </p:nvSpPr>
        <p:spPr>
          <a:xfrm>
            <a:off x="4238625" y="6076950"/>
            <a:ext cx="1009650" cy="171450"/>
          </a:xfrm>
          <a:prstGeom prst="rect">
            <a:avLst/>
          </a:prstGeom>
          <a:noFill/>
        </p:spPr>
        <p:txBody>
          <a:bodyPr wrap="none" lIns="13335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Plus Jakarta Sans"/>
              </a:rPr>
              <a:t>Power BI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CB0C0D1-B01F-9CE3-B8D8-891CEE4ECCF3}"/>
              </a:ext>
            </a:extLst>
          </p:cNvPr>
          <p:cNvSpPr txBox="1"/>
          <p:nvPr/>
        </p:nvSpPr>
        <p:spPr>
          <a:xfrm>
            <a:off x="5191125" y="6076950"/>
            <a:ext cx="742950" cy="171450"/>
          </a:xfrm>
          <a:prstGeom prst="rect">
            <a:avLst/>
          </a:prstGeom>
          <a:noFill/>
        </p:spPr>
        <p:txBody>
          <a:bodyPr wrap="none" lIns="104775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Plus Jakarta Sans"/>
              </a:rPr>
              <a:t>Excel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655A244-1D9E-41C2-76D9-1B7CC5EED383}"/>
              </a:ext>
            </a:extLst>
          </p:cNvPr>
          <p:cNvSpPr txBox="1"/>
          <p:nvPr/>
        </p:nvSpPr>
        <p:spPr>
          <a:xfrm>
            <a:off x="2739565" y="429817"/>
            <a:ext cx="6712870" cy="10894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290"/>
              </a:lnSpc>
            </a:pPr>
            <a:r>
              <a:rPr sz="3900" b="1" i="0" u="none" dirty="0">
                <a:solidFill>
                  <a:srgbClr val="FFFFFF"/>
                </a:solidFill>
                <a:latin typeface="Space Grotesk"/>
              </a:rPr>
              <a:t>SMART CITY ANALYSIS SYSTEM</a:t>
            </a:r>
          </a:p>
        </p:txBody>
      </p:sp>
      <p:pic>
        <p:nvPicPr>
          <p:cNvPr id="7" name="Picture 6" descr="5 Smart City Technologies Driving Innovation Forward - Geo-matching">
            <a:extLst>
              <a:ext uri="{FF2B5EF4-FFF2-40B4-BE49-F238E27FC236}">
                <a16:creationId xmlns:a16="http://schemas.microsoft.com/office/drawing/2014/main" id="{2C36B465-B435-2662-21E9-A48655C7685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52862" y="1172718"/>
            <a:ext cx="4159758" cy="41597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0194034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414587"/>
            <a:ext cx="5034706" cy="819150"/>
          </a:xfrm>
          <a:prstGeom prst="roundRect">
            <a:avLst>
              <a:gd name="adj" fmla="val 1395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386137"/>
            <a:ext cx="5034706" cy="819150"/>
          </a:xfrm>
          <a:prstGeom prst="roundRect">
            <a:avLst>
              <a:gd name="adj" fmla="val 1395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357687"/>
            <a:ext cx="5034706" cy="1000125"/>
          </a:xfrm>
          <a:prstGeom prst="roundRect">
            <a:avLst>
              <a:gd name="adj" fmla="val 1142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2414587"/>
            <a:ext cx="38100" cy="8191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3386137"/>
            <a:ext cx="38100" cy="8191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4357687"/>
            <a:ext cx="38100" cy="10001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5306" y="2076450"/>
            <a:ext cx="5557093" cy="3619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 dirty="0">
                <a:solidFill>
                  <a:srgbClr val="0F172A"/>
                </a:solidFill>
                <a:latin typeface="Space Grotesk"/>
              </a:rPr>
              <a:t>Project Introduction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2605087"/>
            <a:ext cx="1128194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F172A"/>
                </a:solidFill>
                <a:latin typeface="Space Grotesk"/>
              </a:rPr>
              <a:t>4 Core Domains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862262"/>
            <a:ext cx="576950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Comprehensive analysis across waste, energy, traffic, and crime.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3576637"/>
            <a:ext cx="605798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F172A"/>
                </a:solidFill>
                <a:latin typeface="Space Grotesk"/>
              </a:rPr>
              <a:t>Kaggle Datasets &amp; Cleaning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3833812"/>
            <a:ext cx="576950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Structured preprocessing and anomaly removal on authentic data.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4548187"/>
            <a:ext cx="605798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pace Grotesk"/>
              </a:rPr>
              <a:t>SQL &amp; Power BI Integration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4805362"/>
            <a:ext cx="4710856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Seamless database connectivity backing live interactive dashboards.</a:t>
            </a:r>
          </a:p>
        </p:txBody>
      </p:sp>
      <p:pic>
        <p:nvPicPr>
          <p:cNvPr id="18" name="Picture 17" descr="Choosing the Right Tech Stack for Data Analytics Platform Development |  Lightpoint Global">
            <a:extLst>
              <a:ext uri="{FF2B5EF4-FFF2-40B4-BE49-F238E27FC236}">
                <a16:creationId xmlns:a16="http://schemas.microsoft.com/office/drawing/2014/main" id="{547A203C-45AF-F503-638C-0E5A5E93C8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5306" y="876300"/>
            <a:ext cx="5143500" cy="51244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914400" y="1470279"/>
            <a:ext cx="10021824" cy="4682871"/>
          </a:xfrm>
          <a:prstGeom prst="roundRect">
            <a:avLst>
              <a:gd name="adj" fmla="val 380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228724" y="4639921"/>
            <a:ext cx="8840680" cy="490586"/>
          </a:xfrm>
          <a:prstGeom prst="roundRect">
            <a:avLst>
              <a:gd name="adj" fmla="val 18181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409" y="1696808"/>
            <a:ext cx="429507" cy="429507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0315" y="2301698"/>
            <a:ext cx="104775" cy="1238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4749" y="2861108"/>
            <a:ext cx="104775" cy="1238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776" y="3442826"/>
            <a:ext cx="104775" cy="1238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STRATEGIC ALIGNMENT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704850"/>
            <a:ext cx="1505220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 dirty="0">
                <a:solidFill>
                  <a:srgbClr val="0F172A"/>
                </a:solidFill>
                <a:latin typeface="Space Grotesk"/>
              </a:rPr>
              <a:t>Objectives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43477" y="4792772"/>
            <a:ext cx="54673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075985"/>
                </a:solidFill>
                <a:latin typeface="Plus Jakarta Sans"/>
              </a:rPr>
              <a:t>Outcome: Actionable intelligence for modern smart city governance.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1625" y="1784604"/>
            <a:ext cx="3969582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Space Grotesk"/>
              </a:rPr>
              <a:t>Core Objectives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43477" y="2241805"/>
            <a:ext cx="8804890" cy="210104"/>
          </a:xfrm>
          <a:prstGeom prst="rect">
            <a:avLst/>
          </a:prstGeom>
          <a:noFill/>
        </p:spPr>
        <p:txBody>
          <a:bodyPr wrap="square" lIns="219075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 dirty="0">
                <a:solidFill>
                  <a:srgbClr val="334155"/>
                </a:solidFill>
                <a:latin typeface="Plus Jakarta Sans"/>
              </a:rPr>
              <a:t>Unify Datasets:</a:t>
            </a:r>
            <a:r>
              <a:rPr sz="1200" b="0" i="0" u="none" dirty="0">
                <a:solidFill>
                  <a:srgbClr val="334155"/>
                </a:solidFill>
                <a:latin typeface="Plus Jakarta Sans"/>
              </a:rPr>
              <a:t> Process 4 major Kaggle urban datasets seamlessly.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3477" y="2820746"/>
            <a:ext cx="8804890" cy="204158"/>
          </a:xfrm>
          <a:prstGeom prst="rect">
            <a:avLst/>
          </a:prstGeom>
          <a:noFill/>
        </p:spPr>
        <p:txBody>
          <a:bodyPr wrap="square" lIns="219075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 dirty="0">
                <a:solidFill>
                  <a:srgbClr val="334155"/>
                </a:solidFill>
                <a:latin typeface="Plus Jakarta Sans"/>
              </a:rPr>
              <a:t>Execute EDA:</a:t>
            </a:r>
            <a:r>
              <a:rPr sz="1200" b="0" i="0" u="none" dirty="0">
                <a:solidFill>
                  <a:srgbClr val="334155"/>
                </a:solidFill>
                <a:latin typeface="Plus Jakarta Sans"/>
              </a:rPr>
              <a:t> Extract statistical patterns using Python &amp; Pandas.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95089" y="3399687"/>
            <a:ext cx="8853277" cy="210104"/>
          </a:xfrm>
          <a:prstGeom prst="rect">
            <a:avLst/>
          </a:prstGeom>
          <a:noFill/>
        </p:spPr>
        <p:txBody>
          <a:bodyPr wrap="square" lIns="219075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 dirty="0">
                <a:solidFill>
                  <a:srgbClr val="334155"/>
                </a:solidFill>
                <a:latin typeface="Plus Jakarta Sans"/>
              </a:rPr>
              <a:t>Deploy Pipelines:</a:t>
            </a:r>
            <a:r>
              <a:rPr sz="1200"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lang="en-IN" sz="1200"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sz="1200" b="0" i="0" u="none" dirty="0">
                <a:solidFill>
                  <a:srgbClr val="334155"/>
                </a:solidFill>
                <a:latin typeface="Plus Jakarta Sans"/>
              </a:rPr>
              <a:t>Build SQL storage and Power BI dashboards.</a:t>
            </a:r>
          </a:p>
        </p:txBody>
      </p:sp>
    </p:spTree>
  </p:cSld>
  <p:clrMapOvr>
    <a:masterClrMapping/>
  </p:clrMapOvr>
  <p:transition spd="slow">
    <p:randomBar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076450"/>
            <a:ext cx="2571750" cy="361950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9950" y="2076450"/>
            <a:ext cx="2571750" cy="361950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2076450"/>
            <a:ext cx="2571750" cy="361950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010650" y="2076450"/>
            <a:ext cx="2571750" cy="361950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47725" y="5019675"/>
            <a:ext cx="2095500" cy="400050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648075" y="5019675"/>
            <a:ext cx="2095500" cy="400050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48425" y="5019675"/>
            <a:ext cx="2095500" cy="400050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248775" y="5019675"/>
            <a:ext cx="2095500" cy="400050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352675"/>
            <a:ext cx="457200" cy="4572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8075" y="2352675"/>
            <a:ext cx="457200" cy="4572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8425" y="2352675"/>
            <a:ext cx="457200" cy="4572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8775" y="2352675"/>
            <a:ext cx="457200" cy="4572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5837" y="2476500"/>
            <a:ext cx="180975" cy="2095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86187" y="2476500"/>
            <a:ext cx="180975" cy="2095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43675" y="2476500"/>
            <a:ext cx="266700" cy="2095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72600" y="2476500"/>
            <a:ext cx="209550" cy="2095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ANALYTICAL SCOPE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704850"/>
            <a:ext cx="3023841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 dirty="0">
                <a:solidFill>
                  <a:srgbClr val="0F172A"/>
                </a:solidFill>
                <a:latin typeface="Space Grotesk"/>
              </a:rPr>
              <a:t>Four Major Domains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725" y="3000375"/>
            <a:ext cx="2750343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Waste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725" y="3324225"/>
            <a:ext cx="21907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Generation rates, bin fill levels, and pickup route efficiency.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1550" y="5143500"/>
            <a:ext cx="230981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Plus Jakarta Sans"/>
              </a:rPr>
              <a:t>Metric: Collection Efficiency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48075" y="3000375"/>
            <a:ext cx="2750343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Energy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48075" y="3324225"/>
            <a:ext cx="21907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Power consumption trends, peak load demand, and grid loads.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71900" y="5143500"/>
            <a:ext cx="1484381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D97706"/>
                </a:solidFill>
                <a:latin typeface="Plus Jakarta Sans"/>
              </a:rPr>
              <a:t>Metric: </a:t>
            </a:r>
            <a:r>
              <a:rPr lang="en-IN" sz="975" b="1" i="0" u="none" dirty="0">
                <a:solidFill>
                  <a:srgbClr val="D97706"/>
                </a:solidFill>
                <a:latin typeface="Plus Jakarta Sans"/>
              </a:rPr>
              <a:t>Energy Consumption</a:t>
            </a:r>
            <a:endParaRPr sz="975" b="1" i="0" u="none" dirty="0">
              <a:solidFill>
                <a:srgbClr val="D97706"/>
              </a:solidFill>
              <a:latin typeface="Plus Jakarta San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48425" y="3000375"/>
            <a:ext cx="2750343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Traffic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8425" y="3324225"/>
            <a:ext cx="21907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Vehicle density, bottleneck zones, and peak congestion hours.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72250" y="5143500"/>
            <a:ext cx="230981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6A34A"/>
                </a:solidFill>
                <a:latin typeface="Plus Jakarta Sans"/>
              </a:rPr>
              <a:t>Metric: Congestion Index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48775" y="3000375"/>
            <a:ext cx="2750343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Crime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48775" y="3324225"/>
            <a:ext cx="21907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Incident frequency, spatial distribution, and safety hotspots.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72600" y="5143500"/>
            <a:ext cx="230981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9333EA"/>
                </a:solidFill>
                <a:latin typeface="Plus Jakarta Sans"/>
              </a:rPr>
              <a:t>Metric: Incident Density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547937"/>
            <a:ext cx="6041528" cy="790575"/>
          </a:xfrm>
          <a:prstGeom prst="roundRect">
            <a:avLst>
              <a:gd name="adj" fmla="val 1445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490912"/>
            <a:ext cx="6041528" cy="790575"/>
          </a:xfrm>
          <a:prstGeom prst="roundRect">
            <a:avLst>
              <a:gd name="adj" fmla="val 1445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433887"/>
            <a:ext cx="6041528" cy="790575"/>
          </a:xfrm>
          <a:prstGeom prst="roundRect">
            <a:avLst>
              <a:gd name="adj" fmla="val 1445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2771775"/>
            <a:ext cx="304800" cy="3429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" y="3714750"/>
            <a:ext cx="304800" cy="3429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4657725"/>
            <a:ext cx="342900" cy="3429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INFRASTRUCTURE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Technology 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4925" y="2747962"/>
            <a:ext cx="531316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pace Grotesk"/>
              </a:rPr>
              <a:t>Python &amp; Jupyter Notebook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04925" y="2967037"/>
            <a:ext cx="506015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Pandas, NumPy, Matplotlib &amp; Seaborn for data wrangling and EDA.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04925" y="3690937"/>
            <a:ext cx="565070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pace Grotesk"/>
              </a:rPr>
              <a:t>MySQL Relational 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04925" y="3910012"/>
            <a:ext cx="53816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Structured relational tables with automated Python connector scripts.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3025" y="4633912"/>
            <a:ext cx="516314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pace Grotesk"/>
              </a:rPr>
              <a:t>Power BI &amp; Microsoft Excel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43025" y="4852987"/>
            <a:ext cx="491728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Interactive dashboards, PivotTables, DAX measures, and slicers.</a:t>
            </a:r>
          </a:p>
        </p:txBody>
      </p:sp>
      <p:pic>
        <p:nvPicPr>
          <p:cNvPr id="18" name="Picture 17" descr="Advance Analytics with Python,Power BI,SQL,VBA,Excel (54 Hr)">
            <a:extLst>
              <a:ext uri="{FF2B5EF4-FFF2-40B4-BE49-F238E27FC236}">
                <a16:creationId xmlns:a16="http://schemas.microsoft.com/office/drawing/2014/main" id="{80732CFB-B967-AF15-5D84-A890D34859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8506" y="1652587"/>
            <a:ext cx="4572000" cy="35528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05112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576637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348162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5306" y="2076450"/>
            <a:ext cx="5557093" cy="3619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PIPELINE STAGE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Data Cleaning &amp; EDA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725" y="2805112"/>
            <a:ext cx="59055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284C7"/>
                </a:solidFill>
                <a:latin typeface="Plus Jakarta San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725" y="3576637"/>
            <a:ext cx="59055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284C7"/>
                </a:solidFill>
                <a:latin typeface="Plus Jakarta San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725" y="4348162"/>
            <a:ext cx="59055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284C7"/>
                </a:solidFill>
                <a:latin typeface="Plus Jakarta San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800" y="2805112"/>
            <a:ext cx="600797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pace Grotesk"/>
              </a:rPr>
              <a:t>Dataset Inspection &amp; Null Handling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6800" y="3062287"/>
            <a:ext cx="4672756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Imputed missing values and purged duplicate records across all 4 tables.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6800" y="3576637"/>
            <a:ext cx="600797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pace Grotesk"/>
              </a:rPr>
              <a:t>Data Type Standardisation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6800" y="3833812"/>
            <a:ext cx="4672756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Converted timestamp formats and cast numeric variables for SQL insertion.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6800" y="4348162"/>
            <a:ext cx="600797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pace Grotesk"/>
              </a:rPr>
              <a:t>Statistical Visualization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6800" y="4605337"/>
            <a:ext cx="4672756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Generated Seaborn heatmaps and distributions to detect urban outliers.</a:t>
            </a:r>
          </a:p>
        </p:txBody>
      </p:sp>
      <p:pic>
        <p:nvPicPr>
          <p:cNvPr id="18" name="Picture 17" descr="Data Cleaning: Significance and Stages of Data Cleansing in Data Analytics  | by Ahsan Ali | Medium">
            <a:extLst>
              <a:ext uri="{FF2B5EF4-FFF2-40B4-BE49-F238E27FC236}">
                <a16:creationId xmlns:a16="http://schemas.microsoft.com/office/drawing/2014/main" id="{87845EFA-E00C-6CC1-29E4-5346778036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141025"/>
            <a:ext cx="5408999" cy="34459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47693" y="2228850"/>
            <a:ext cx="5034706" cy="1038225"/>
          </a:xfrm>
          <a:prstGeom prst="roundRect">
            <a:avLst>
              <a:gd name="adj" fmla="val 1100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547693" y="3457575"/>
            <a:ext cx="5034706" cy="8572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547693" y="4505325"/>
            <a:ext cx="5034706" cy="1038225"/>
          </a:xfrm>
          <a:prstGeom prst="roundRect">
            <a:avLst>
              <a:gd name="adj" fmla="val 1100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7718" y="2457450"/>
            <a:ext cx="171450" cy="17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7718" y="3686175"/>
            <a:ext cx="133350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7718" y="4733925"/>
            <a:ext cx="219075" cy="171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PIPELINE STAGE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SQL Database Connectivity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47718" y="2428875"/>
            <a:ext cx="5444281" cy="219075"/>
          </a:xfrm>
          <a:prstGeom prst="rect">
            <a:avLst/>
          </a:prstGeom>
          <a:noFill/>
        </p:spPr>
        <p:txBody>
          <a:bodyPr wrap="none" lIns="26670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pace Grotesk"/>
              </a:rPr>
              <a:t>Schema &amp; Table Creation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7718" y="2705100"/>
            <a:ext cx="4729906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Designed relational schema optimized for time-series urban queries.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47718" y="3657600"/>
            <a:ext cx="5444281" cy="219075"/>
          </a:xfrm>
          <a:prstGeom prst="rect">
            <a:avLst/>
          </a:prstGeom>
          <a:noFill/>
        </p:spPr>
        <p:txBody>
          <a:bodyPr wrap="none" lIns="22860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pace Grotesk"/>
              </a:rPr>
              <a:t>Python–MySQL Bridge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7718" y="3933825"/>
            <a:ext cx="544428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Automated batch data insertion using MySQL Connector Engine.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47718" y="4705350"/>
            <a:ext cx="5444281" cy="219075"/>
          </a:xfrm>
          <a:prstGeom prst="rect">
            <a:avLst/>
          </a:prstGeom>
          <a:noFill/>
        </p:spPr>
        <p:txBody>
          <a:bodyPr wrap="none" lIns="314325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pace Grotesk"/>
              </a:rPr>
              <a:t>SQL Retrieval Queries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7718" y="4981575"/>
            <a:ext cx="4729906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Executed aggregated queries to feed downstream BI reporting dashboards.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BA1B89-0844-CF39-C5F2-DC1236552E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791982"/>
            <a:ext cx="5226174" cy="436116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233612"/>
            <a:ext cx="5034706" cy="1000125"/>
          </a:xfrm>
          <a:prstGeom prst="roundRect">
            <a:avLst>
              <a:gd name="adj" fmla="val 1142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386137"/>
            <a:ext cx="5034706" cy="1000125"/>
          </a:xfrm>
          <a:prstGeom prst="roundRect">
            <a:avLst>
              <a:gd name="adj" fmla="val 1142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538662"/>
            <a:ext cx="5034706" cy="1000125"/>
          </a:xfrm>
          <a:prstGeom prst="roundRect">
            <a:avLst>
              <a:gd name="adj" fmla="val 1142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2233612"/>
            <a:ext cx="38100" cy="10001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3386137"/>
            <a:ext cx="38100" cy="10001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4538662"/>
            <a:ext cx="38100" cy="10001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VISUALIZATION 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2875403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 dirty="0">
                <a:solidFill>
                  <a:srgbClr val="0F172A"/>
                </a:solidFill>
                <a:latin typeface="Space Grotesk"/>
              </a:rPr>
              <a:t>Dashboard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2424112"/>
            <a:ext cx="605798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F172A"/>
                </a:solidFill>
                <a:latin typeface="Space Grotesk"/>
              </a:rPr>
              <a:t>Dynamic </a:t>
            </a:r>
            <a:r>
              <a:rPr sz="1350" b="1" i="0" u="none" dirty="0" err="1">
                <a:solidFill>
                  <a:srgbClr val="0F172A"/>
                </a:solidFill>
                <a:latin typeface="Space Grotesk"/>
              </a:rPr>
              <a:t>KPI</a:t>
            </a:r>
            <a:r>
              <a:rPr sz="1350" b="1" i="0" u="none" dirty="0">
                <a:solidFill>
                  <a:srgbClr val="0F172A"/>
                </a:solidFill>
                <a:latin typeface="Space Grotesk"/>
              </a:rPr>
              <a:t> Cards &amp; Slicers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681287"/>
            <a:ext cx="4710856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Real-time metric summaries filtered by date, zone, and severe status.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3576637"/>
            <a:ext cx="605798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pace Grotesk"/>
              </a:rPr>
              <a:t>Multi-Visual Charts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3833812"/>
            <a:ext cx="4710856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Bar charts, line trends, and donut distributions for rapid visual analysis.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4729162"/>
            <a:ext cx="605798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pace Grotesk"/>
              </a:rPr>
              <a:t>Cross-Filtering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4986337"/>
            <a:ext cx="4710856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Selecting one visual dynamically updates all connected urban metrics.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B260116-AA22-5E8B-FA46-AD1A26FA5C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5440" y="1159858"/>
            <a:ext cx="4153186" cy="4153186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REPORTING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Domain-Wise Dashboard Analytics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91882" y="3062028"/>
            <a:ext cx="1358029" cy="1962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 dirty="0">
                <a:solidFill>
                  <a:srgbClr val="0F172A"/>
                </a:solidFill>
                <a:latin typeface="Space Grotesk"/>
              </a:rPr>
              <a:t>Waste 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91881" y="3277150"/>
            <a:ext cx="1358029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Collection efficiency &amp; bin capacity hotspots.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27281" y="4553753"/>
            <a:ext cx="288786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 dirty="0">
                <a:solidFill>
                  <a:srgbClr val="0F172A"/>
                </a:solidFill>
                <a:latin typeface="Space Grotesk"/>
              </a:rPr>
              <a:t>Energy Metrics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7282" y="4802904"/>
            <a:ext cx="1940324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Peak consumption spikes &amp; grid load status.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26967" y="1556215"/>
            <a:ext cx="288786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 dirty="0">
                <a:solidFill>
                  <a:srgbClr val="0F172A"/>
                </a:solidFill>
                <a:latin typeface="Space Grotesk"/>
              </a:rPr>
              <a:t>Traffic 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7281" y="1784370"/>
            <a:ext cx="177944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Congestion indices &amp; bottleneck zone identification.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91882" y="5788901"/>
            <a:ext cx="1054726" cy="1962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 dirty="0">
                <a:solidFill>
                  <a:srgbClr val="0F172A"/>
                </a:solidFill>
                <a:latin typeface="Space Grotesk"/>
              </a:rPr>
              <a:t>Crime Mapping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91882" y="6007665"/>
            <a:ext cx="1265558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Spatial safety scores &amp; high-risk patrol zones.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E34E1B21-4D2C-3C2B-F8E5-D12FA29921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29" t="18919" r="19429" b="7204"/>
          <a:stretch>
            <a:fillRect/>
          </a:stretch>
        </p:blipFill>
        <p:spPr>
          <a:xfrm>
            <a:off x="758729" y="1581150"/>
            <a:ext cx="4211036" cy="23561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BA96892A-016B-7434-0414-9A78625911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261" t="18892" r="21466" b="7080"/>
          <a:stretch>
            <a:fillRect/>
          </a:stretch>
        </p:blipFill>
        <p:spPr>
          <a:xfrm>
            <a:off x="7435517" y="1563493"/>
            <a:ext cx="4211036" cy="23738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F3B3DED6-1E09-9889-088A-F4DE893E46C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008" t="18828" r="33636" b="7144"/>
          <a:stretch>
            <a:fillRect/>
          </a:stretch>
        </p:blipFill>
        <p:spPr>
          <a:xfrm>
            <a:off x="7425123" y="4233429"/>
            <a:ext cx="4211036" cy="23502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8716253F-0F3E-4BE4-06D3-3FA9FDC07C9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3771" t="18741" r="27171" b="6700"/>
          <a:stretch>
            <a:fillRect/>
          </a:stretch>
        </p:blipFill>
        <p:spPr>
          <a:xfrm>
            <a:off x="758729" y="4233429"/>
            <a:ext cx="4211036" cy="23502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47693" y="2295525"/>
            <a:ext cx="5034706" cy="1019175"/>
          </a:xfrm>
          <a:prstGeom prst="roundRect">
            <a:avLst>
              <a:gd name="adj" fmla="val 1121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547693" y="3467100"/>
            <a:ext cx="5034706" cy="838200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547693" y="4457700"/>
            <a:ext cx="5034706" cy="1019175"/>
          </a:xfrm>
          <a:prstGeom prst="roundRect">
            <a:avLst>
              <a:gd name="adj" fmla="val 1121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ALTERNATIVE REPORTING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04850"/>
            <a:ext cx="3943324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 dirty="0">
                <a:solidFill>
                  <a:srgbClr val="0F172A"/>
                </a:solidFill>
                <a:latin typeface="Space Grotesk"/>
              </a:rPr>
              <a:t>Interactive </a:t>
            </a:r>
            <a:r>
              <a:rPr lang="en-IN" sz="2700" b="1" i="0" u="none" dirty="0">
                <a:solidFill>
                  <a:srgbClr val="0F172A"/>
                </a:solidFill>
                <a:latin typeface="Space Grotesk"/>
              </a:rPr>
              <a:t>Final Das</a:t>
            </a:r>
            <a:r>
              <a:rPr sz="2700" b="1" i="0" u="none" dirty="0" err="1">
                <a:solidFill>
                  <a:srgbClr val="0F172A"/>
                </a:solidFill>
                <a:latin typeface="Space Grotesk"/>
              </a:rPr>
              <a:t>hboard</a:t>
            </a:r>
            <a:endParaRPr sz="2700" b="1" i="0" u="none" dirty="0">
              <a:solidFill>
                <a:srgbClr val="0F172A"/>
              </a:solidFill>
              <a:latin typeface="Space Grotesk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747718" y="2495550"/>
            <a:ext cx="544428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pace Grotesk"/>
              </a:rPr>
              <a:t>PivotTables &amp; PivotCharts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47718" y="2752725"/>
            <a:ext cx="4729906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Rapid data summaries and dynamically linked visual chart components.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47718" y="3667125"/>
            <a:ext cx="544428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pace Grotesk"/>
              </a:rPr>
              <a:t>Timeline Slicers &amp; Filters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47718" y="3924300"/>
            <a:ext cx="544428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Interactive slice-and-dice controls for executive reporting.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7718" y="4657725"/>
            <a:ext cx="544428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pace Grotesk"/>
              </a:rPr>
              <a:t>Summary KPI Metrics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47718" y="4914900"/>
            <a:ext cx="4729906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Compact operational view for stakeholders without Power BI access.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BC12E14-DDA4-FE24-1567-0BD71FF720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789" t="18400" r="20285" b="7069"/>
          <a:stretch>
            <a:fillRect/>
          </a:stretch>
        </p:blipFill>
        <p:spPr>
          <a:xfrm>
            <a:off x="511375" y="1932359"/>
            <a:ext cx="5817530" cy="334449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1896" y="1332192"/>
            <a:ext cx="5034706" cy="313312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691896" y="4593345"/>
            <a:ext cx="4952410" cy="1258815"/>
          </a:xfrm>
          <a:prstGeom prst="roundRect">
            <a:avLst>
              <a:gd name="adj" fmla="val 794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894896"/>
            <a:ext cx="123825" cy="1428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2" y="5208449"/>
            <a:ext cx="123825" cy="1428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5508305"/>
            <a:ext cx="123825" cy="1428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EXECUTION &amp; LEADERSHIP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04850"/>
            <a:ext cx="2677528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 dirty="0">
                <a:solidFill>
                  <a:srgbClr val="0F172A"/>
                </a:solidFill>
                <a:latin typeface="Space Grotesk"/>
              </a:rPr>
              <a:t>Team Contribution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1538288"/>
            <a:ext cx="569807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Plus Jakarta Sans"/>
              </a:rPr>
              <a:t>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1766888"/>
            <a:ext cx="5982974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 dirty="0">
                <a:solidFill>
                  <a:srgbClr val="0F172A"/>
                </a:solidFill>
                <a:latin typeface="Space Grotesk"/>
              </a:rPr>
              <a:t>Team Leader: Sanskriti Saxena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2124076"/>
            <a:ext cx="4653706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64748B"/>
                </a:solidFill>
                <a:latin typeface="Plus Jakarta Sans"/>
              </a:rPr>
              <a:t>Managed 9 team members across data processing, SQL, and dashboard units.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1550" y="4666296"/>
            <a:ext cx="569807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Plus Jakarta Sans"/>
              </a:rPr>
              <a:t>KEY RESPONSIBILITIES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1550" y="4894896"/>
            <a:ext cx="5698070" cy="180975"/>
          </a:xfrm>
          <a:prstGeom prst="rect">
            <a:avLst/>
          </a:prstGeom>
          <a:noFill/>
        </p:spPr>
        <p:txBody>
          <a:bodyPr wrap="none" lIns="219075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Plus Jakarta Sans"/>
              </a:rPr>
              <a:t>Team coordination and task allocation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1550" y="5171121"/>
            <a:ext cx="5698070" cy="180975"/>
          </a:xfrm>
          <a:prstGeom prst="rect">
            <a:avLst/>
          </a:prstGeom>
          <a:noFill/>
        </p:spPr>
        <p:txBody>
          <a:bodyPr wrap="none" lIns="219075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Plus Jakarta Sans"/>
              </a:rPr>
              <a:t>Data pipeline monitoring &amp; quality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1550" y="5447346"/>
            <a:ext cx="5698070" cy="180975"/>
          </a:xfrm>
          <a:prstGeom prst="rect">
            <a:avLst/>
          </a:prstGeom>
          <a:noFill/>
        </p:spPr>
        <p:txBody>
          <a:bodyPr wrap="none" lIns="219075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Plus Jakarta Sans"/>
              </a:rPr>
              <a:t>Cross-module integration &amp; dashboard delivery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958518-D4F4-6DC9-1F30-F81329469081}"/>
              </a:ext>
            </a:extLst>
          </p:cNvPr>
          <p:cNvSpPr txBox="1"/>
          <p:nvPr/>
        </p:nvSpPr>
        <p:spPr>
          <a:xfrm>
            <a:off x="1300664" y="2625923"/>
            <a:ext cx="1478280" cy="16619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350" dirty="0"/>
              <a:t>Niharika Negi.</a:t>
            </a:r>
          </a:p>
          <a:p>
            <a:r>
              <a:rPr lang="en-US" sz="1350" dirty="0"/>
              <a:t>Anmol Mishra.  </a:t>
            </a:r>
            <a:endParaRPr lang="en-IN" sz="1350" dirty="0"/>
          </a:p>
          <a:p>
            <a:r>
              <a:rPr lang="en-US" sz="1350" dirty="0"/>
              <a:t>Priyanshi Dubey.</a:t>
            </a:r>
          </a:p>
          <a:p>
            <a:r>
              <a:rPr lang="en-US" sz="1350" dirty="0"/>
              <a:t>Vaishnavi Varshney.</a:t>
            </a:r>
          </a:p>
          <a:p>
            <a:r>
              <a:rPr lang="en-US" sz="1350" dirty="0"/>
              <a:t>Ansh Kulshrestha.</a:t>
            </a:r>
          </a:p>
          <a:p>
            <a:r>
              <a:rPr lang="en-US" sz="1350" dirty="0"/>
              <a:t>Adama Ousman.</a:t>
            </a:r>
          </a:p>
          <a:p>
            <a:r>
              <a:rPr lang="en-US" sz="1350" dirty="0"/>
              <a:t>Satyam.</a:t>
            </a:r>
            <a:endParaRPr lang="en-IN" sz="1350" dirty="0"/>
          </a:p>
          <a:p>
            <a:r>
              <a:rPr lang="en-US" sz="1350" dirty="0"/>
              <a:t>Alankar Maurya.</a:t>
            </a:r>
            <a:r>
              <a:rPr lang="en-US" sz="1350" b="1" dirty="0"/>
              <a:t> </a:t>
            </a:r>
            <a:endParaRPr lang="en-IN" sz="1350" dirty="0"/>
          </a:p>
        </p:txBody>
      </p:sp>
      <p:pic>
        <p:nvPicPr>
          <p:cNvPr id="21" name="Picture 20" descr="image.png">
            <a:extLst>
              <a:ext uri="{FF2B5EF4-FFF2-40B4-BE49-F238E27FC236}">
                <a16:creationId xmlns:a16="http://schemas.microsoft.com/office/drawing/2014/main" id="{CB7B35DD-A4ED-7A1B-3594-784B2403DD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450" y="2653669"/>
            <a:ext cx="85725" cy="142875"/>
          </a:xfrm>
          <a:prstGeom prst="rect">
            <a:avLst/>
          </a:prstGeom>
        </p:spPr>
      </p:pic>
      <p:pic>
        <p:nvPicPr>
          <p:cNvPr id="23" name="Picture 22" descr="image.png">
            <a:extLst>
              <a:ext uri="{FF2B5EF4-FFF2-40B4-BE49-F238E27FC236}">
                <a16:creationId xmlns:a16="http://schemas.microsoft.com/office/drawing/2014/main" id="{8D9BBEA8-FAD5-3151-E6C4-4B0F68A4BA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449" y="2865513"/>
            <a:ext cx="85725" cy="142875"/>
          </a:xfrm>
          <a:prstGeom prst="rect">
            <a:avLst/>
          </a:prstGeom>
        </p:spPr>
      </p:pic>
      <p:pic>
        <p:nvPicPr>
          <p:cNvPr id="25" name="Picture 24" descr="image.png">
            <a:extLst>
              <a:ext uri="{FF2B5EF4-FFF2-40B4-BE49-F238E27FC236}">
                <a16:creationId xmlns:a16="http://schemas.microsoft.com/office/drawing/2014/main" id="{CAD4E6CE-F309-57EF-292C-3F1BDFB21F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449" y="3077357"/>
            <a:ext cx="85725" cy="142875"/>
          </a:xfrm>
          <a:prstGeom prst="rect">
            <a:avLst/>
          </a:prstGeom>
        </p:spPr>
      </p:pic>
      <p:pic>
        <p:nvPicPr>
          <p:cNvPr id="27" name="Picture 26" descr="image.png">
            <a:extLst>
              <a:ext uri="{FF2B5EF4-FFF2-40B4-BE49-F238E27FC236}">
                <a16:creationId xmlns:a16="http://schemas.microsoft.com/office/drawing/2014/main" id="{DD900D07-6395-4F6F-A84F-BA130A23ED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450" y="3286125"/>
            <a:ext cx="85725" cy="142875"/>
          </a:xfrm>
          <a:prstGeom prst="rect">
            <a:avLst/>
          </a:prstGeom>
        </p:spPr>
      </p:pic>
      <p:pic>
        <p:nvPicPr>
          <p:cNvPr id="29" name="Picture 28" descr="image.png">
            <a:extLst>
              <a:ext uri="{FF2B5EF4-FFF2-40B4-BE49-F238E27FC236}">
                <a16:creationId xmlns:a16="http://schemas.microsoft.com/office/drawing/2014/main" id="{B46CD6D9-F369-CEDA-907F-E14547C02F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450" y="3501951"/>
            <a:ext cx="85725" cy="142875"/>
          </a:xfrm>
          <a:prstGeom prst="rect">
            <a:avLst/>
          </a:prstGeom>
        </p:spPr>
      </p:pic>
      <p:pic>
        <p:nvPicPr>
          <p:cNvPr id="31" name="Picture 30" descr="image.png">
            <a:extLst>
              <a:ext uri="{FF2B5EF4-FFF2-40B4-BE49-F238E27FC236}">
                <a16:creationId xmlns:a16="http://schemas.microsoft.com/office/drawing/2014/main" id="{020FEE3C-0E92-9422-B5DE-60F2B9EA2B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903" y="3709813"/>
            <a:ext cx="85725" cy="142875"/>
          </a:xfrm>
          <a:prstGeom prst="rect">
            <a:avLst/>
          </a:prstGeom>
        </p:spPr>
      </p:pic>
      <p:pic>
        <p:nvPicPr>
          <p:cNvPr id="33" name="Picture 32" descr="image.png">
            <a:extLst>
              <a:ext uri="{FF2B5EF4-FFF2-40B4-BE49-F238E27FC236}">
                <a16:creationId xmlns:a16="http://schemas.microsoft.com/office/drawing/2014/main" id="{6DF1767D-9FAC-A962-0CD3-CC90E2BA61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448" y="3917675"/>
            <a:ext cx="85725" cy="142875"/>
          </a:xfrm>
          <a:prstGeom prst="rect">
            <a:avLst/>
          </a:prstGeom>
        </p:spPr>
      </p:pic>
      <p:pic>
        <p:nvPicPr>
          <p:cNvPr id="35" name="Picture 34" descr="image.png">
            <a:extLst>
              <a:ext uri="{FF2B5EF4-FFF2-40B4-BE49-F238E27FC236}">
                <a16:creationId xmlns:a16="http://schemas.microsoft.com/office/drawing/2014/main" id="{C8BF5494-921A-EF74-4C3D-4949FC521E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357" y="4101032"/>
            <a:ext cx="85725" cy="142875"/>
          </a:xfrm>
          <a:prstGeom prst="rect">
            <a:avLst/>
          </a:prstGeom>
        </p:spPr>
      </p:pic>
      <p:pic>
        <p:nvPicPr>
          <p:cNvPr id="36" name="Picture 35" descr="Teamwork vs Team Building: What's The Difference">
            <a:extLst>
              <a:ext uri="{FF2B5EF4-FFF2-40B4-BE49-F238E27FC236}">
                <a16:creationId xmlns:a16="http://schemas.microsoft.com/office/drawing/2014/main" id="{6464D8F4-8872-FB1C-5C90-8795457B4C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8835" y="1896784"/>
            <a:ext cx="5451070" cy="355056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5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99C599-C2C5-C478-BBDF-79011BA57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A288F77-8909-388A-586E-259132AD3A30}"/>
              </a:ext>
            </a:extLst>
          </p:cNvPr>
          <p:cNvSpPr/>
          <p:nvPr/>
        </p:nvSpPr>
        <p:spPr>
          <a:xfrm>
            <a:off x="609600" y="5781675"/>
            <a:ext cx="10972800" cy="542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27C0004-FB02-BCC5-3F43-C5B94CC763D5}"/>
              </a:ext>
            </a:extLst>
          </p:cNvPr>
          <p:cNvSpPr/>
          <p:nvPr/>
        </p:nvSpPr>
        <p:spPr>
          <a:xfrm>
            <a:off x="609600" y="2638425"/>
            <a:ext cx="5334000" cy="1724025"/>
          </a:xfrm>
          <a:prstGeom prst="roundRect">
            <a:avLst>
              <a:gd name="adj" fmla="val 8839"/>
            </a:avLst>
          </a:prstGeom>
          <a:solidFill>
            <a:srgbClr val="192135"/>
          </a:solidFill>
          <a:ln w="9525">
            <a:solidFill>
              <a:srgbClr val="252C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A1EBC3E-5A25-BDBD-65A7-D7BE0DB90D94}"/>
              </a:ext>
            </a:extLst>
          </p:cNvPr>
          <p:cNvSpPr/>
          <p:nvPr/>
        </p:nvSpPr>
        <p:spPr>
          <a:xfrm>
            <a:off x="6248400" y="2638425"/>
            <a:ext cx="5334000" cy="1724025"/>
          </a:xfrm>
          <a:prstGeom prst="roundRect">
            <a:avLst>
              <a:gd name="adj" fmla="val 8839"/>
            </a:avLst>
          </a:prstGeom>
          <a:solidFill>
            <a:srgbClr val="192135"/>
          </a:solidFill>
          <a:ln w="9525">
            <a:solidFill>
              <a:srgbClr val="252C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>
            <a:extLst>
              <a:ext uri="{FF2B5EF4-FFF2-40B4-BE49-F238E27FC236}">
                <a16:creationId xmlns:a16="http://schemas.microsoft.com/office/drawing/2014/main" id="{B15B8034-C6D0-EC9F-D118-0773DB3272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2943225"/>
            <a:ext cx="171450" cy="190500"/>
          </a:xfrm>
          <a:prstGeom prst="rect">
            <a:avLst/>
          </a:prstGeom>
        </p:spPr>
      </p:pic>
      <p:pic>
        <p:nvPicPr>
          <p:cNvPr id="8" name="Picture 7" descr="image.png">
            <a:extLst>
              <a:ext uri="{FF2B5EF4-FFF2-40B4-BE49-F238E27FC236}">
                <a16:creationId xmlns:a16="http://schemas.microsoft.com/office/drawing/2014/main" id="{4BB942B1-33A6-F0E5-4F49-86BDDF272D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625" y="2943225"/>
            <a:ext cx="190500" cy="190500"/>
          </a:xfrm>
          <a:prstGeom prst="rect">
            <a:avLst/>
          </a:prstGeom>
        </p:spPr>
      </p:pic>
      <p:pic>
        <p:nvPicPr>
          <p:cNvPr id="9" name="Picture 8" descr="image.png">
            <a:extLst>
              <a:ext uri="{FF2B5EF4-FFF2-40B4-BE49-F238E27FC236}">
                <a16:creationId xmlns:a16="http://schemas.microsoft.com/office/drawing/2014/main" id="{2F8D1A7D-0A74-D82D-5F28-09C7762BD0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" y="3343275"/>
            <a:ext cx="85725" cy="142875"/>
          </a:xfrm>
          <a:prstGeom prst="rect">
            <a:avLst/>
          </a:prstGeom>
        </p:spPr>
      </p:pic>
      <p:pic>
        <p:nvPicPr>
          <p:cNvPr id="10" name="Picture 9" descr="image.png">
            <a:extLst>
              <a:ext uri="{FF2B5EF4-FFF2-40B4-BE49-F238E27FC236}">
                <a16:creationId xmlns:a16="http://schemas.microsoft.com/office/drawing/2014/main" id="{A6B6A086-3044-3E87-D328-47863D8180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" y="3638550"/>
            <a:ext cx="85725" cy="142875"/>
          </a:xfrm>
          <a:prstGeom prst="rect">
            <a:avLst/>
          </a:prstGeom>
        </p:spPr>
      </p:pic>
      <p:pic>
        <p:nvPicPr>
          <p:cNvPr id="11" name="Picture 10" descr="image.png">
            <a:extLst>
              <a:ext uri="{FF2B5EF4-FFF2-40B4-BE49-F238E27FC236}">
                <a16:creationId xmlns:a16="http://schemas.microsoft.com/office/drawing/2014/main" id="{12398743-38F3-8489-2BA6-943D25628F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" y="3933825"/>
            <a:ext cx="85725" cy="142875"/>
          </a:xfrm>
          <a:prstGeom prst="rect">
            <a:avLst/>
          </a:prstGeom>
        </p:spPr>
      </p:pic>
      <p:pic>
        <p:nvPicPr>
          <p:cNvPr id="12" name="Picture 11" descr="image.png">
            <a:extLst>
              <a:ext uri="{FF2B5EF4-FFF2-40B4-BE49-F238E27FC236}">
                <a16:creationId xmlns:a16="http://schemas.microsoft.com/office/drawing/2014/main" id="{112943EB-4DB8-B6DA-88EC-97FF93956E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4625" y="3343275"/>
            <a:ext cx="85725" cy="142875"/>
          </a:xfrm>
          <a:prstGeom prst="rect">
            <a:avLst/>
          </a:prstGeom>
        </p:spPr>
      </p:pic>
      <p:pic>
        <p:nvPicPr>
          <p:cNvPr id="13" name="Picture 12" descr="image.png">
            <a:extLst>
              <a:ext uri="{FF2B5EF4-FFF2-40B4-BE49-F238E27FC236}">
                <a16:creationId xmlns:a16="http://schemas.microsoft.com/office/drawing/2014/main" id="{D1902B14-17BF-D4F2-A59C-2BCCCB360F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4625" y="3638550"/>
            <a:ext cx="85725" cy="142875"/>
          </a:xfrm>
          <a:prstGeom prst="rect">
            <a:avLst/>
          </a:prstGeom>
        </p:spPr>
      </p:pic>
      <p:pic>
        <p:nvPicPr>
          <p:cNvPr id="14" name="Picture 13" descr="image.png">
            <a:extLst>
              <a:ext uri="{FF2B5EF4-FFF2-40B4-BE49-F238E27FC236}">
                <a16:creationId xmlns:a16="http://schemas.microsoft.com/office/drawing/2014/main" id="{D5DC4294-83B2-BD65-F9AC-6EBB5B077D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4625" y="3933825"/>
            <a:ext cx="85725" cy="14287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4978306-CDA0-83D5-406A-EAD0F318AF53}"/>
              </a:ext>
            </a:extLst>
          </p:cNvPr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Plus Jakarta Sans"/>
              </a:rPr>
              <a:t>SUMMARY &amp; VISION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73FE5C4-7A69-B5FE-50AF-BB031388984F}"/>
              </a:ext>
            </a:extLst>
          </p:cNvPr>
          <p:cNvSpPr txBox="1"/>
          <p:nvPr/>
        </p:nvSpPr>
        <p:spPr>
          <a:xfrm>
            <a:off x="609600" y="7810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 dirty="0">
                <a:solidFill>
                  <a:srgbClr val="FFFFFF"/>
                </a:solidFill>
                <a:latin typeface="Space Grotesk"/>
              </a:rPr>
              <a:t>Conclusion &amp; Future Scope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13116E7-029A-D366-8F92-8E2B4ED3A5E3}"/>
              </a:ext>
            </a:extLst>
          </p:cNvPr>
          <p:cNvSpPr txBox="1"/>
          <p:nvPr/>
        </p:nvSpPr>
        <p:spPr>
          <a:xfrm>
            <a:off x="885825" y="2914650"/>
            <a:ext cx="6275784" cy="247650"/>
          </a:xfrm>
          <a:prstGeom prst="rect">
            <a:avLst/>
          </a:prstGeom>
          <a:noFill/>
        </p:spPr>
        <p:txBody>
          <a:bodyPr wrap="none" lIns="26670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8BDF8"/>
                </a:solidFill>
                <a:latin typeface="Space Grotesk"/>
              </a:rPr>
              <a:t>Conclusion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C8FDAAC-28EF-FBBB-C4A0-47E832CB238C}"/>
              </a:ext>
            </a:extLst>
          </p:cNvPr>
          <p:cNvSpPr txBox="1"/>
          <p:nvPr/>
        </p:nvSpPr>
        <p:spPr>
          <a:xfrm>
            <a:off x="6524625" y="2914650"/>
            <a:ext cx="5667375" cy="247650"/>
          </a:xfrm>
          <a:prstGeom prst="rect">
            <a:avLst/>
          </a:prstGeom>
          <a:noFill/>
        </p:spPr>
        <p:txBody>
          <a:bodyPr wrap="none" lIns="28575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8BDF8"/>
                </a:solidFill>
                <a:latin typeface="Space Grotesk"/>
              </a:rPr>
              <a:t>Future Scope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92EA3A4-0221-4171-6C21-543910DEFD8F}"/>
              </a:ext>
            </a:extLst>
          </p:cNvPr>
          <p:cNvSpPr txBox="1"/>
          <p:nvPr/>
        </p:nvSpPr>
        <p:spPr>
          <a:xfrm>
            <a:off x="885825" y="3314700"/>
            <a:ext cx="2508700" cy="173124"/>
          </a:xfrm>
          <a:prstGeom prst="rect">
            <a:avLst/>
          </a:prstGeom>
          <a:noFill/>
        </p:spPr>
        <p:txBody>
          <a:bodyPr wrap="none" lIns="161925" tIns="0" rIns="0" bIns="0" anchor="t">
            <a:spAutoFit/>
          </a:bodyPr>
          <a:lstStyle/>
          <a:p>
            <a:pPr algn="l"/>
            <a:r>
              <a:rPr sz="1125" b="0" i="0" u="none" dirty="0">
                <a:solidFill>
                  <a:srgbClr val="CBD5E1"/>
                </a:solidFill>
                <a:latin typeface="Plus Jakarta Sans"/>
              </a:rPr>
              <a:t>Successfully analyzed 4 critical domains.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F457688-CAB1-7540-D10D-EE815EEAD8B2}"/>
              </a:ext>
            </a:extLst>
          </p:cNvPr>
          <p:cNvSpPr txBox="1"/>
          <p:nvPr/>
        </p:nvSpPr>
        <p:spPr>
          <a:xfrm>
            <a:off x="885825" y="3609975"/>
            <a:ext cx="5976937" cy="180975"/>
          </a:xfrm>
          <a:prstGeom prst="rect">
            <a:avLst/>
          </a:prstGeom>
          <a:noFill/>
        </p:spPr>
        <p:txBody>
          <a:bodyPr wrap="none" lIns="161925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CBD5E1"/>
                </a:solidFill>
                <a:latin typeface="Plus Jakarta Sans"/>
              </a:rPr>
              <a:t>Engineered robust Python &amp; SQL data pipeline.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D734E55-0531-6E6D-0A15-AD3C3D2DAE14}"/>
              </a:ext>
            </a:extLst>
          </p:cNvPr>
          <p:cNvSpPr txBox="1"/>
          <p:nvPr/>
        </p:nvSpPr>
        <p:spPr>
          <a:xfrm>
            <a:off x="885825" y="3905250"/>
            <a:ext cx="5976937" cy="180975"/>
          </a:xfrm>
          <a:prstGeom prst="rect">
            <a:avLst/>
          </a:prstGeom>
          <a:noFill/>
        </p:spPr>
        <p:txBody>
          <a:bodyPr wrap="none" lIns="161925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CBD5E1"/>
                </a:solidFill>
                <a:latin typeface="Plus Jakarta Sans"/>
              </a:rPr>
              <a:t>Deployed Power BI &amp; Excel interactive dashboards.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30ADE28-51FB-1DBC-E659-6BF6113DB1CB}"/>
              </a:ext>
            </a:extLst>
          </p:cNvPr>
          <p:cNvSpPr txBox="1"/>
          <p:nvPr/>
        </p:nvSpPr>
        <p:spPr>
          <a:xfrm>
            <a:off x="6524625" y="3314700"/>
            <a:ext cx="5667375" cy="180975"/>
          </a:xfrm>
          <a:prstGeom prst="rect">
            <a:avLst/>
          </a:prstGeom>
          <a:noFill/>
        </p:spPr>
        <p:txBody>
          <a:bodyPr wrap="none" lIns="161925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CBD5E1"/>
                </a:solidFill>
                <a:latin typeface="Plus Jakarta Sans"/>
              </a:rPr>
              <a:t>Real-time IoT sensor integration &amp; live feeds.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3A6A31B-851F-C632-4683-54B7165121DD}"/>
              </a:ext>
            </a:extLst>
          </p:cNvPr>
          <p:cNvSpPr txBox="1"/>
          <p:nvPr/>
        </p:nvSpPr>
        <p:spPr>
          <a:xfrm>
            <a:off x="6524625" y="3609975"/>
            <a:ext cx="5667375" cy="180975"/>
          </a:xfrm>
          <a:prstGeom prst="rect">
            <a:avLst/>
          </a:prstGeom>
          <a:noFill/>
        </p:spPr>
        <p:txBody>
          <a:bodyPr wrap="none" lIns="161925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CBD5E1"/>
                </a:solidFill>
                <a:latin typeface="Plus Jakarta Sans"/>
              </a:rPr>
              <a:t>AI-based predictive traffic and energy models.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0CCC262-6F15-E1E0-4CF3-22B1F108D760}"/>
              </a:ext>
            </a:extLst>
          </p:cNvPr>
          <p:cNvSpPr txBox="1"/>
          <p:nvPr/>
        </p:nvSpPr>
        <p:spPr>
          <a:xfrm>
            <a:off x="6524625" y="3905250"/>
            <a:ext cx="5667375" cy="180975"/>
          </a:xfrm>
          <a:prstGeom prst="rect">
            <a:avLst/>
          </a:prstGeom>
          <a:noFill/>
        </p:spPr>
        <p:txBody>
          <a:bodyPr wrap="none" lIns="161925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CBD5E1"/>
                </a:solidFill>
                <a:latin typeface="Plus Jakarta Sans"/>
              </a:rPr>
              <a:t>Automated municipal alert and platform monitoring.</a:t>
            </a:r>
          </a:p>
        </p:txBody>
      </p:sp>
    </p:spTree>
    <p:extLst>
      <p:ext uri="{BB962C8B-B14F-4D97-AF65-F5344CB8AC3E}">
        <p14:creationId xmlns:p14="http://schemas.microsoft.com/office/powerpoint/2010/main" val="26898669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5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09600" y="5781675"/>
            <a:ext cx="10972800" cy="542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599" y="1282616"/>
            <a:ext cx="7065524" cy="3397229"/>
          </a:xfrm>
          <a:prstGeom prst="roundRect">
            <a:avLst>
              <a:gd name="adj" fmla="val 8839"/>
            </a:avLst>
          </a:prstGeom>
          <a:solidFill>
            <a:srgbClr val="192135"/>
          </a:solidFill>
          <a:ln w="9525">
            <a:solidFill>
              <a:srgbClr val="252C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338" y="1641306"/>
            <a:ext cx="85725" cy="1428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9600" y="533400"/>
            <a:ext cx="428002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1050" b="1" i="0" u="none" dirty="0">
                <a:solidFill>
                  <a:srgbClr val="38BDF8"/>
                </a:solidFill>
                <a:latin typeface="Plus Jakarta Sans"/>
              </a:rPr>
              <a:t>Helping</a:t>
            </a:r>
            <a:endParaRPr sz="1050" b="1" i="0" u="none" dirty="0">
              <a:solidFill>
                <a:srgbClr val="38BDF8"/>
              </a:solidFill>
              <a:latin typeface="Plus Jakarta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09600" y="781050"/>
            <a:ext cx="1577355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2700" b="1" i="0" u="none" dirty="0">
                <a:solidFill>
                  <a:srgbClr val="FFFFFF"/>
                </a:solidFill>
                <a:latin typeface="Space Grotesk"/>
              </a:rPr>
              <a:t>References</a:t>
            </a:r>
            <a:endParaRPr sz="2700" b="1" i="0" u="none" dirty="0">
              <a:solidFill>
                <a:srgbClr val="FFFFFF"/>
              </a:solidFill>
              <a:latin typeface="Space Grotesk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99E91EF-D428-C3F0-7B0A-B2A5A519ED64}"/>
              </a:ext>
            </a:extLst>
          </p:cNvPr>
          <p:cNvSpPr txBox="1"/>
          <p:nvPr/>
        </p:nvSpPr>
        <p:spPr>
          <a:xfrm>
            <a:off x="1164063" y="1554956"/>
            <a:ext cx="6326235" cy="2793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350" dirty="0">
                <a:solidFill>
                  <a:schemeClr val="bg1"/>
                </a:solidFill>
              </a:rPr>
              <a:t>Microsoft Documentation. </a:t>
            </a:r>
            <a:r>
              <a:rPr lang="en-US" sz="1350" i="1" dirty="0">
                <a:solidFill>
                  <a:schemeClr val="bg1"/>
                </a:solidFill>
              </a:rPr>
              <a:t>Get Started with Power Query in Excel</a:t>
            </a:r>
            <a:r>
              <a:rPr lang="en-US" sz="1350" dirty="0">
                <a:solidFill>
                  <a:schemeClr val="bg1"/>
                </a:solidFill>
              </a:rPr>
              <a:t>. Available at: </a:t>
            </a:r>
            <a:r>
              <a:rPr lang="en-US" sz="1350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</a:t>
            </a:r>
            <a:r>
              <a:rPr lang="en-US" sz="1350" dirty="0" err="1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support.microsoft.com</a:t>
            </a:r>
            <a:r>
              <a:rPr lang="en-US" sz="1350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/excel</a:t>
            </a:r>
            <a:endParaRPr lang="en-IN" sz="1350" dirty="0">
              <a:solidFill>
                <a:schemeClr val="bg1"/>
              </a:solidFill>
            </a:endParaRPr>
          </a:p>
          <a:p>
            <a:pPr lvl="0"/>
            <a:r>
              <a:rPr lang="en-US" sz="1350" dirty="0">
                <a:solidFill>
                  <a:schemeClr val="bg1"/>
                </a:solidFill>
              </a:rPr>
              <a:t>Microsoft Documentation. </a:t>
            </a:r>
            <a:r>
              <a:rPr lang="en-US" sz="1350" i="1" dirty="0">
                <a:solidFill>
                  <a:schemeClr val="bg1"/>
                </a:solidFill>
              </a:rPr>
              <a:t>Using Pivot Tables for Data Analysis</a:t>
            </a:r>
            <a:r>
              <a:rPr lang="en-US" sz="1350" dirty="0">
                <a:solidFill>
                  <a:schemeClr val="bg1"/>
                </a:solidFill>
              </a:rPr>
              <a:t>. Available at: </a:t>
            </a:r>
            <a:r>
              <a:rPr lang="en-US" sz="1350" dirty="0">
                <a:solidFill>
                  <a:schemeClr val="bg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</a:t>
            </a:r>
            <a:r>
              <a:rPr lang="en-US" sz="1350" dirty="0" err="1">
                <a:solidFill>
                  <a:schemeClr val="bg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support.microsoft.com</a:t>
            </a:r>
            <a:r>
              <a:rPr lang="en-US" sz="1350" dirty="0">
                <a:solidFill>
                  <a:schemeClr val="bg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sz="1350" dirty="0" err="1">
                <a:solidFill>
                  <a:schemeClr val="bg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pivottable</a:t>
            </a:r>
            <a:endParaRPr lang="en-IN" sz="1350" dirty="0">
              <a:solidFill>
                <a:schemeClr val="bg1"/>
              </a:solidFill>
            </a:endParaRPr>
          </a:p>
          <a:p>
            <a:pPr lvl="0"/>
            <a:r>
              <a:rPr lang="en-US" sz="1350" dirty="0">
                <a:solidFill>
                  <a:schemeClr val="bg1"/>
                </a:solidFill>
              </a:rPr>
              <a:t>Microsoft Learn. </a:t>
            </a:r>
            <a:r>
              <a:rPr lang="en-US" sz="1350" i="1" dirty="0">
                <a:solidFill>
                  <a:schemeClr val="bg1"/>
                </a:solidFill>
              </a:rPr>
              <a:t>Excel Charts and Visualization Tools</a:t>
            </a:r>
            <a:r>
              <a:rPr lang="en-US" sz="1350" dirty="0">
                <a:solidFill>
                  <a:schemeClr val="bg1"/>
                </a:solidFill>
              </a:rPr>
              <a:t>. Available at: </a:t>
            </a:r>
            <a:r>
              <a:rPr lang="en-US" sz="1350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</a:t>
            </a:r>
            <a:r>
              <a:rPr lang="en-US" sz="1350" dirty="0" err="1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learn.microsoft.com</a:t>
            </a:r>
            <a:r>
              <a:rPr lang="en-US" sz="1350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/excel</a:t>
            </a:r>
            <a:endParaRPr lang="en-IN" sz="1350" dirty="0">
              <a:solidFill>
                <a:schemeClr val="bg1"/>
              </a:solidFill>
            </a:endParaRPr>
          </a:p>
          <a:p>
            <a:pPr lvl="0"/>
            <a:r>
              <a:rPr lang="en-US" sz="1350" dirty="0" err="1">
                <a:solidFill>
                  <a:schemeClr val="bg1"/>
                </a:solidFill>
              </a:rPr>
              <a:t>StackOverflow</a:t>
            </a:r>
            <a:r>
              <a:rPr lang="en-US" sz="1350" dirty="0">
                <a:solidFill>
                  <a:schemeClr val="bg1"/>
                </a:solidFill>
              </a:rPr>
              <a:t> Community Discussions – Excel Formula &amp; Query Solutions. </a:t>
            </a:r>
            <a:r>
              <a:rPr lang="en-US" sz="1350"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</a:t>
            </a:r>
            <a:r>
              <a:rPr lang="en-US" sz="1350" dirty="0" err="1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stackoverflow.com</a:t>
            </a:r>
            <a:endParaRPr lang="en-IN" sz="1350" dirty="0">
              <a:solidFill>
                <a:schemeClr val="bg1"/>
              </a:solidFill>
            </a:endParaRPr>
          </a:p>
          <a:p>
            <a:pPr lvl="0"/>
            <a:r>
              <a:rPr lang="en-US" sz="1350" dirty="0">
                <a:solidFill>
                  <a:schemeClr val="bg1"/>
                </a:solidFill>
              </a:rPr>
              <a:t>Textbook: </a:t>
            </a:r>
            <a:r>
              <a:rPr lang="en-US" sz="1350" b="1" dirty="0">
                <a:solidFill>
                  <a:schemeClr val="bg1"/>
                </a:solidFill>
              </a:rPr>
              <a:t>Data Analytics for Beginners</a:t>
            </a:r>
            <a:r>
              <a:rPr lang="en-US" sz="1350" dirty="0">
                <a:solidFill>
                  <a:schemeClr val="bg1"/>
                </a:solidFill>
              </a:rPr>
              <a:t>, Pearson Education.</a:t>
            </a:r>
            <a:endParaRPr lang="en-IN" sz="1350" dirty="0">
              <a:solidFill>
                <a:schemeClr val="bg1"/>
              </a:solidFill>
            </a:endParaRPr>
          </a:p>
          <a:p>
            <a:pPr lvl="0"/>
            <a:r>
              <a:rPr lang="en-US" sz="1350" dirty="0">
                <a:solidFill>
                  <a:schemeClr val="bg1"/>
                </a:solidFill>
              </a:rPr>
              <a:t>YouTube Tutorials on Excel Dashboard Designing (accessed during project preparation):</a:t>
            </a:r>
            <a:endParaRPr lang="en-IN" sz="1350" dirty="0">
              <a:solidFill>
                <a:schemeClr val="bg1"/>
              </a:solidFill>
            </a:endParaRPr>
          </a:p>
          <a:p>
            <a:pPr lvl="1"/>
            <a:r>
              <a:rPr lang="en-US" sz="1350" dirty="0">
                <a:solidFill>
                  <a:schemeClr val="bg1"/>
                </a:solidFill>
              </a:rPr>
              <a:t>Leila </a:t>
            </a:r>
            <a:r>
              <a:rPr lang="en-US" sz="1350" dirty="0" err="1">
                <a:solidFill>
                  <a:schemeClr val="bg1"/>
                </a:solidFill>
              </a:rPr>
              <a:t>Gharani</a:t>
            </a:r>
            <a:r>
              <a:rPr lang="en-US" sz="1350" dirty="0">
                <a:solidFill>
                  <a:schemeClr val="bg1"/>
                </a:solidFill>
              </a:rPr>
              <a:t> Excel Dashboard Tutorials</a:t>
            </a:r>
            <a:endParaRPr lang="en-IN" sz="1350" dirty="0">
              <a:solidFill>
                <a:schemeClr val="bg1"/>
              </a:solidFill>
            </a:endParaRPr>
          </a:p>
          <a:p>
            <a:pPr lvl="1"/>
            <a:r>
              <a:rPr lang="en-US" sz="1350" dirty="0" err="1">
                <a:solidFill>
                  <a:schemeClr val="bg1"/>
                </a:solidFill>
              </a:rPr>
              <a:t>ExcelIsFun</a:t>
            </a:r>
            <a:r>
              <a:rPr lang="en-US" sz="1350" dirty="0">
                <a:solidFill>
                  <a:schemeClr val="bg1"/>
                </a:solidFill>
              </a:rPr>
              <a:t> Dashboard Series</a:t>
            </a:r>
            <a:endParaRPr lang="en-IN" sz="1350" dirty="0">
              <a:solidFill>
                <a:schemeClr val="bg1"/>
              </a:solidFill>
            </a:endParaRPr>
          </a:p>
          <a:p>
            <a:endParaRPr lang="en-IN" sz="1350" dirty="0">
              <a:solidFill>
                <a:schemeClr val="bg1"/>
              </a:solidFill>
            </a:endParaRPr>
          </a:p>
        </p:txBody>
      </p:sp>
      <p:pic>
        <p:nvPicPr>
          <p:cNvPr id="31" name="Picture 30" descr="image.png">
            <a:extLst>
              <a:ext uri="{FF2B5EF4-FFF2-40B4-BE49-F238E27FC236}">
                <a16:creationId xmlns:a16="http://schemas.microsoft.com/office/drawing/2014/main" id="{BAACBF93-80BA-4BAB-9925-887BF4B48A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338" y="2056521"/>
            <a:ext cx="85725" cy="142875"/>
          </a:xfrm>
          <a:prstGeom prst="rect">
            <a:avLst/>
          </a:prstGeom>
        </p:spPr>
      </p:pic>
      <p:pic>
        <p:nvPicPr>
          <p:cNvPr id="33" name="Picture 32" descr="image.png">
            <a:extLst>
              <a:ext uri="{FF2B5EF4-FFF2-40B4-BE49-F238E27FC236}">
                <a16:creationId xmlns:a16="http://schemas.microsoft.com/office/drawing/2014/main" id="{107D46E5-26B2-04BA-BD59-E6A394ADFA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337" y="2471736"/>
            <a:ext cx="85725" cy="142875"/>
          </a:xfrm>
          <a:prstGeom prst="rect">
            <a:avLst/>
          </a:prstGeom>
        </p:spPr>
      </p:pic>
      <p:pic>
        <p:nvPicPr>
          <p:cNvPr id="35" name="Picture 34" descr="image.png">
            <a:extLst>
              <a:ext uri="{FF2B5EF4-FFF2-40B4-BE49-F238E27FC236}">
                <a16:creationId xmlns:a16="http://schemas.microsoft.com/office/drawing/2014/main" id="{E38E9278-EB66-2345-2A6B-D078E66C03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336" y="2880054"/>
            <a:ext cx="85725" cy="142875"/>
          </a:xfrm>
          <a:prstGeom prst="rect">
            <a:avLst/>
          </a:prstGeom>
        </p:spPr>
      </p:pic>
      <p:pic>
        <p:nvPicPr>
          <p:cNvPr id="37" name="Picture 36" descr="image.png">
            <a:extLst>
              <a:ext uri="{FF2B5EF4-FFF2-40B4-BE49-F238E27FC236}">
                <a16:creationId xmlns:a16="http://schemas.microsoft.com/office/drawing/2014/main" id="{542C4D9C-2F19-C57D-3718-C0C93ACD9D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335" y="3286125"/>
            <a:ext cx="85725" cy="142875"/>
          </a:xfrm>
          <a:prstGeom prst="rect">
            <a:avLst/>
          </a:prstGeom>
        </p:spPr>
      </p:pic>
      <p:pic>
        <p:nvPicPr>
          <p:cNvPr id="39" name="Picture 38" descr="image.png">
            <a:extLst>
              <a:ext uri="{FF2B5EF4-FFF2-40B4-BE49-F238E27FC236}">
                <a16:creationId xmlns:a16="http://schemas.microsoft.com/office/drawing/2014/main" id="{AF960B4B-A639-E5BA-3B1E-FF8F34E78A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338" y="3502406"/>
            <a:ext cx="85725" cy="14287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6DC351F-512D-E34F-E728-DD059DC36E3C}"/>
              </a:ext>
            </a:extLst>
          </p:cNvPr>
          <p:cNvSpPr/>
          <p:nvPr/>
        </p:nvSpPr>
        <p:spPr>
          <a:xfrm>
            <a:off x="609600" y="5781675"/>
            <a:ext cx="109728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2E12C9-11A6-B6D3-7433-906DD60CDEE5}"/>
              </a:ext>
            </a:extLst>
          </p:cNvPr>
          <p:cNvSpPr txBox="1"/>
          <p:nvPr/>
        </p:nvSpPr>
        <p:spPr>
          <a:xfrm>
            <a:off x="-381000" y="5981700"/>
            <a:ext cx="12954000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100" b="1" i="0" u="none" dirty="0">
                <a:solidFill>
                  <a:srgbClr val="FFFFFF"/>
                </a:solidFill>
                <a:latin typeface="Space Grotesk"/>
              </a:rPr>
              <a:t>THANK YOU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747</Words>
  <Application>Microsoft Office PowerPoint</Application>
  <PresentationFormat>Widescreen</PresentationFormat>
  <Paragraphs>147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Space Grotesk</vt:lpstr>
      <vt:lpstr>Plus Jakarta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Agrim Saxena</cp:lastModifiedBy>
  <cp:revision>6</cp:revision>
  <dcterms:created xsi:type="dcterms:W3CDTF">2013-01-27T09:14:16Z</dcterms:created>
  <dcterms:modified xsi:type="dcterms:W3CDTF">2026-10-31T08:01:01Z</dcterms:modified>
  <cp:category/>
</cp:coreProperties>
</file>